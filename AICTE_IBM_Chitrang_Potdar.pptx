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6"/>
  </p:notesMasterIdLst>
  <p:sldIdLst>
    <p:sldId id="256" r:id="rId5"/>
    <p:sldId id="2146847054" r:id="rId6"/>
    <p:sldId id="262" r:id="rId7"/>
    <p:sldId id="265" r:id="rId8"/>
    <p:sldId id="266" r:id="rId9"/>
    <p:sldId id="2146847056" r:id="rId10"/>
    <p:sldId id="267" r:id="rId11"/>
    <p:sldId id="268" r:id="rId12"/>
    <p:sldId id="2146847055" r:id="rId13"/>
    <p:sldId id="269"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C3D9CC-52A4-7BB9-5926-A17EAD909109}" v="32" dt="2024-12-19T12:09:51.9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83" d="100"/>
          <a:sy n="83" d="100"/>
        </p:scale>
        <p:origin x="682"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5</a:t>
            </a:fld>
            <a:endParaRPr lang="en-IN"/>
          </a:p>
        </p:txBody>
      </p:sp>
    </p:spTree>
    <p:extLst>
      <p:ext uri="{BB962C8B-B14F-4D97-AF65-F5344CB8AC3E}">
        <p14:creationId xmlns:p14="http://schemas.microsoft.com/office/powerpoint/2010/main" val="1696113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10/11/2025</a:t>
            </a:fld>
            <a:endParaRPr lang="en-US"/>
          </a:p>
        </p:txBody>
      </p:sp>
      <p:sp>
        <p:nvSpPr>
          <p:cNvPr id="9" name="Footer Placeholder 8">
            <a:extLst>
              <a:ext uri="{FF2B5EF4-FFF2-40B4-BE49-F238E27FC236}">
                <a16:creationId xmlns=""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10/11/2025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10/11/2025</a:t>
            </a:fld>
            <a:endParaRPr lang="en-US"/>
          </a:p>
        </p:txBody>
      </p:sp>
      <p:sp>
        <p:nvSpPr>
          <p:cNvPr id="9" name="Footer Placeholder 8">
            <a:extLst>
              <a:ext uri="{FF2B5EF4-FFF2-40B4-BE49-F238E27FC236}">
                <a16:creationId xmlns=""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10/11/2025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10/11/2025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10/11/2025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10/11/2025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10/11/2025</a:t>
            </a:fld>
            <a:endParaRPr lang="en-US"/>
          </a:p>
        </p:txBody>
      </p:sp>
      <p:sp>
        <p:nvSpPr>
          <p:cNvPr id="10" name="Footer Placeholder 9">
            <a:extLst>
              <a:ext uri="{FF2B5EF4-FFF2-40B4-BE49-F238E27FC236}">
                <a16:creationId xmlns=""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10/11/2025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10/11/2025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10/11/2025</a:t>
            </a:fld>
            <a:endParaRPr lang="en-US"/>
          </a:p>
        </p:txBody>
      </p:sp>
      <p:sp>
        <p:nvSpPr>
          <p:cNvPr id="12" name="Footer Placeholder 11">
            <a:extLst>
              <a:ext uri="{FF2B5EF4-FFF2-40B4-BE49-F238E27FC236}">
                <a16:creationId xmlns=""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10/11/2025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https://nanthinimoha.github.io/AICTE-FWD-PROJECT/" TargetMode="External"/><Relationship Id="rId2" Type="http://schemas.openxmlformats.org/officeDocument/2006/relationships/hyperlink" Target="https://github.com/NanthiniMoha/AICTE-AI/CLOUD.gi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docs.python.org/3/" TargetMode="External"/><Relationship Id="rId3" Type="http://schemas.openxmlformats.org/officeDocument/2006/relationships/hyperlink" Target="https://ai.google.dev/gemini-api" TargetMode="External"/><Relationship Id="rId7" Type="http://schemas.openxmlformats.org/officeDocument/2006/relationships/hyperlink" Target="https://docs.streamlit.io/" TargetMode="External"/><Relationship Id="rId2" Type="http://schemas.openxmlformats.org/officeDocument/2006/relationships/hyperlink" Target="https://docs.crewai.com/" TargetMode="External"/><Relationship Id="rId1" Type="http://schemas.openxmlformats.org/officeDocument/2006/relationships/slideLayout" Target="../slideLayouts/slideLayout2.xml"/><Relationship Id="rId6" Type="http://schemas.openxmlformats.org/officeDocument/2006/relationships/hyperlink" Target="https://serpapi.com/google-hotels-api" TargetMode="External"/><Relationship Id="rId5" Type="http://schemas.openxmlformats.org/officeDocument/2006/relationships/hyperlink" Target="https://serpapi.com/google-flights-api" TargetMode="External"/><Relationship Id="rId4" Type="http://schemas.openxmlformats.org/officeDocument/2006/relationships/hyperlink" Target="https://serpapi.com/doc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smtClean="0">
                <a:solidFill>
                  <a:schemeClr val="accent1"/>
                </a:solidFill>
                <a:latin typeface="Arial" panose="020B0604020202020204" pitchFamily="34" charset="0"/>
                <a:cs typeface="Arial" panose="020B0604020202020204" pitchFamily="34" charset="0"/>
              </a:rPr>
              <a:t>AI Trip planner</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526473" y="4586365"/>
            <a:ext cx="10571239" cy="1015663"/>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r>
              <a:rPr lang="en-US" sz="2000" b="1" dirty="0" smtClean="0">
                <a:solidFill>
                  <a:schemeClr val="accent1">
                    <a:lumMod val="75000"/>
                  </a:schemeClr>
                </a:solidFill>
                <a:latin typeface="Arial" pitchFamily="34" charset="0"/>
                <a:cs typeface="Arial" pitchFamily="34" charset="0"/>
              </a:rPr>
              <a:t>:</a:t>
            </a:r>
          </a:p>
          <a:p>
            <a:r>
              <a:rPr lang="en-US" sz="2000" b="1" dirty="0">
                <a:solidFill>
                  <a:schemeClr val="accent1">
                    <a:lumMod val="75000"/>
                  </a:schemeClr>
                </a:solidFill>
                <a:latin typeface="Arial"/>
                <a:cs typeface="Arial"/>
              </a:rPr>
              <a:t>1. </a:t>
            </a:r>
            <a:r>
              <a:rPr lang="en-US" sz="2000" b="1" dirty="0" err="1">
                <a:solidFill>
                  <a:schemeClr val="accent1">
                    <a:lumMod val="75000"/>
                  </a:schemeClr>
                </a:solidFill>
                <a:latin typeface="Arial"/>
                <a:cs typeface="Arial"/>
              </a:rPr>
              <a:t>Chitrang</a:t>
            </a:r>
            <a:r>
              <a:rPr lang="en-US" sz="2000" b="1" dirty="0">
                <a:solidFill>
                  <a:schemeClr val="accent1">
                    <a:lumMod val="75000"/>
                  </a:schemeClr>
                </a:solidFill>
                <a:latin typeface="Arial"/>
                <a:cs typeface="Arial"/>
              </a:rPr>
              <a:t> </a:t>
            </a:r>
            <a:r>
              <a:rPr lang="en-US" sz="2000" b="1" dirty="0" err="1">
                <a:solidFill>
                  <a:schemeClr val="accent1">
                    <a:lumMod val="75000"/>
                  </a:schemeClr>
                </a:solidFill>
                <a:latin typeface="Arial"/>
                <a:cs typeface="Arial"/>
              </a:rPr>
              <a:t>Potdar-Padmabhooshan</a:t>
            </a:r>
            <a:r>
              <a:rPr lang="en-US" sz="2000" b="1" dirty="0">
                <a:solidFill>
                  <a:schemeClr val="accent1">
                    <a:lumMod val="75000"/>
                  </a:schemeClr>
                </a:solidFill>
                <a:latin typeface="Arial"/>
                <a:cs typeface="Arial"/>
              </a:rPr>
              <a:t> </a:t>
            </a:r>
            <a:r>
              <a:rPr lang="en-US" sz="2000" b="1" dirty="0" err="1">
                <a:solidFill>
                  <a:schemeClr val="accent1">
                    <a:lumMod val="75000"/>
                  </a:schemeClr>
                </a:solidFill>
                <a:latin typeface="Arial"/>
                <a:cs typeface="Arial"/>
              </a:rPr>
              <a:t>Vasantdata</a:t>
            </a:r>
            <a:r>
              <a:rPr lang="en-US" sz="2000" b="1" dirty="0">
                <a:solidFill>
                  <a:schemeClr val="accent1">
                    <a:lumMod val="75000"/>
                  </a:schemeClr>
                </a:solidFill>
                <a:latin typeface="Arial"/>
                <a:cs typeface="Arial"/>
              </a:rPr>
              <a:t> </a:t>
            </a:r>
            <a:r>
              <a:rPr lang="en-US" sz="2000" b="1" dirty="0" err="1">
                <a:solidFill>
                  <a:schemeClr val="accent1">
                    <a:lumMod val="75000"/>
                  </a:schemeClr>
                </a:solidFill>
                <a:latin typeface="Arial"/>
                <a:cs typeface="Arial"/>
              </a:rPr>
              <a:t>Patil</a:t>
            </a:r>
            <a:r>
              <a:rPr lang="en-US" sz="2000" b="1" dirty="0">
                <a:solidFill>
                  <a:schemeClr val="accent1">
                    <a:lumMod val="75000"/>
                  </a:schemeClr>
                </a:solidFill>
                <a:latin typeface="Arial"/>
                <a:cs typeface="Arial"/>
              </a:rPr>
              <a:t> Institute of Technology-Computer </a:t>
            </a:r>
            <a:r>
              <a:rPr lang="en-US" sz="2000" b="1" dirty="0" smtClean="0">
                <a:solidFill>
                  <a:schemeClr val="accent1">
                    <a:lumMod val="75000"/>
                  </a:schemeClr>
                </a:solidFill>
                <a:latin typeface="Arial"/>
                <a:cs typeface="Arial"/>
              </a:rPr>
              <a:t>Engineering</a:t>
            </a:r>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(Step by Step  Procedure) </a:t>
            </a:r>
            <a:endParaRPr lang="en-US" dirty="0">
              <a:latin typeface="Arial"/>
              <a:cs typeface="Calibri"/>
            </a:endParaRPr>
          </a:p>
          <a:p>
            <a:pPr marL="305435" indent="-305435"/>
            <a:r>
              <a:rPr lang="en-US" sz="2000" b="1" dirty="0">
                <a:latin typeface="Arial"/>
                <a:ea typeface="+mn-lt"/>
                <a:cs typeface="Arial"/>
              </a:rPr>
              <a:t>Result</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Scope(Optional)</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 xmlns:a16="http://schemas.microsoft.com/office/drawing/2014/main" id="{A7D5EFD5-67FD-0471-2D5B-DB48161ADE03}"/>
              </a:ext>
            </a:extLst>
          </p:cNvPr>
          <p:cNvSpPr>
            <a:spLocks noGrp="1"/>
          </p:cNvSpPr>
          <p:nvPr>
            <p:ph idx="1"/>
          </p:nvPr>
        </p:nvSpPr>
        <p:spPr/>
        <p:txBody>
          <a:bodyPr/>
          <a:lstStyle/>
          <a:p>
            <a:pPr algn="just"/>
            <a:r>
              <a:rPr lang="en-US" dirty="0"/>
              <a:t>Travel planning today is a fragmented and time-consuming process that forces users to spend 5-10 hours navigating multiple platforms for flights, hotels, and attractions without any unified solution. The absence of intelligent budget allocation across travel components leads to overspending, while generic recommendations fail to match individual interests such as adventure, culture, or relaxation. With 73% of travelers finding the process stressful and 42% abandoning their plans due to complexity, there is a critical need for an automated, personalized, and budget-conscious travel planning solution that delivers comprehensive trip plans within a single platform.</a:t>
            </a: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graphicFrame>
        <p:nvGraphicFramePr>
          <p:cNvPr id="3" name="Content Placeholder 2"/>
          <p:cNvGraphicFramePr>
            <a:graphicFrameLocks noGrp="1"/>
          </p:cNvGraphicFramePr>
          <p:nvPr>
            <p:ph idx="1"/>
          </p:nvPr>
        </p:nvGraphicFramePr>
        <p:xfrm>
          <a:off x="581025" y="2221230"/>
          <a:ext cx="11029950" cy="2834640"/>
        </p:xfrm>
        <a:graphic>
          <a:graphicData uri="http://schemas.openxmlformats.org/drawingml/2006/table">
            <a:tbl>
              <a:tblPr/>
              <a:tblGrid>
                <a:gridCol w="3676650"/>
                <a:gridCol w="3676650"/>
                <a:gridCol w="3676650"/>
              </a:tblGrid>
              <a:tr h="0">
                <a:tc>
                  <a:txBody>
                    <a:bodyPr/>
                    <a:lstStyle/>
                    <a:p>
                      <a:r>
                        <a:rPr lang="en-IN" b="1" dirty="0"/>
                        <a:t>Category</a:t>
                      </a:r>
                      <a:endParaRPr lang="en-IN" dirty="0"/>
                    </a:p>
                  </a:txBody>
                  <a:tcPr anchor="ctr">
                    <a:lnL>
                      <a:noFill/>
                    </a:lnL>
                    <a:lnR>
                      <a:noFill/>
                    </a:lnR>
                    <a:lnT>
                      <a:noFill/>
                    </a:lnT>
                    <a:lnB>
                      <a:noFill/>
                    </a:lnB>
                  </a:tcPr>
                </a:tc>
                <a:tc>
                  <a:txBody>
                    <a:bodyPr/>
                    <a:lstStyle/>
                    <a:p>
                      <a:r>
                        <a:rPr lang="en-IN" b="1"/>
                        <a:t>Technology</a:t>
                      </a:r>
                      <a:endParaRPr lang="en-IN"/>
                    </a:p>
                  </a:txBody>
                  <a:tcPr anchor="ctr">
                    <a:lnL>
                      <a:noFill/>
                    </a:lnL>
                    <a:lnR>
                      <a:noFill/>
                    </a:lnR>
                    <a:lnT>
                      <a:noFill/>
                    </a:lnT>
                    <a:lnB>
                      <a:noFill/>
                    </a:lnB>
                  </a:tcPr>
                </a:tc>
                <a:tc>
                  <a:txBody>
                    <a:bodyPr/>
                    <a:lstStyle/>
                    <a:p>
                      <a:r>
                        <a:rPr lang="en-IN" b="1"/>
                        <a:t>Purpose</a:t>
                      </a:r>
                      <a:endParaRPr lang="en-IN"/>
                    </a:p>
                  </a:txBody>
                  <a:tcPr anchor="ctr">
                    <a:lnL>
                      <a:noFill/>
                    </a:lnL>
                    <a:lnR>
                      <a:noFill/>
                    </a:lnR>
                    <a:lnT>
                      <a:noFill/>
                    </a:lnT>
                    <a:lnB>
                      <a:noFill/>
                    </a:lnB>
                  </a:tcPr>
                </a:tc>
              </a:tr>
              <a:tr h="0">
                <a:tc>
                  <a:txBody>
                    <a:bodyPr/>
                    <a:lstStyle/>
                    <a:p>
                      <a:r>
                        <a:rPr lang="en-IN" b="1"/>
                        <a:t>AI Framework</a:t>
                      </a:r>
                      <a:endParaRPr lang="en-IN"/>
                    </a:p>
                  </a:txBody>
                  <a:tcPr anchor="ctr">
                    <a:lnL>
                      <a:noFill/>
                    </a:lnL>
                    <a:lnR>
                      <a:noFill/>
                    </a:lnR>
                    <a:lnT>
                      <a:noFill/>
                    </a:lnT>
                    <a:lnB>
                      <a:noFill/>
                    </a:lnB>
                  </a:tcPr>
                </a:tc>
                <a:tc>
                  <a:txBody>
                    <a:bodyPr/>
                    <a:lstStyle/>
                    <a:p>
                      <a:r>
                        <a:rPr lang="en-IN"/>
                        <a:t>CrewAI</a:t>
                      </a:r>
                    </a:p>
                  </a:txBody>
                  <a:tcPr anchor="ctr">
                    <a:lnL>
                      <a:noFill/>
                    </a:lnL>
                    <a:lnR>
                      <a:noFill/>
                    </a:lnR>
                    <a:lnT>
                      <a:noFill/>
                    </a:lnT>
                    <a:lnB>
                      <a:noFill/>
                    </a:lnB>
                  </a:tcPr>
                </a:tc>
                <a:tc>
                  <a:txBody>
                    <a:bodyPr/>
                    <a:lstStyle/>
                    <a:p>
                      <a:r>
                        <a:rPr lang="en-IN"/>
                        <a:t>Multi-agent orchestration</a:t>
                      </a:r>
                    </a:p>
                  </a:txBody>
                  <a:tcPr anchor="ctr">
                    <a:lnL>
                      <a:noFill/>
                    </a:lnL>
                    <a:lnR>
                      <a:noFill/>
                    </a:lnR>
                    <a:lnT>
                      <a:noFill/>
                    </a:lnT>
                    <a:lnB>
                      <a:noFill/>
                    </a:lnB>
                  </a:tcPr>
                </a:tc>
              </a:tr>
              <a:tr h="0">
                <a:tc>
                  <a:txBody>
                    <a:bodyPr/>
                    <a:lstStyle/>
                    <a:p>
                      <a:r>
                        <a:rPr lang="en-IN" b="1"/>
                        <a:t>LLM</a:t>
                      </a:r>
                      <a:endParaRPr lang="en-IN"/>
                    </a:p>
                  </a:txBody>
                  <a:tcPr anchor="ctr">
                    <a:lnL>
                      <a:noFill/>
                    </a:lnL>
                    <a:lnR>
                      <a:noFill/>
                    </a:lnR>
                    <a:lnT>
                      <a:noFill/>
                    </a:lnT>
                    <a:lnB>
                      <a:noFill/>
                    </a:lnB>
                  </a:tcPr>
                </a:tc>
                <a:tc>
                  <a:txBody>
                    <a:bodyPr/>
                    <a:lstStyle/>
                    <a:p>
                      <a:r>
                        <a:rPr lang="en-IN"/>
                        <a:t>Google Gemini 2.0 Flash</a:t>
                      </a:r>
                    </a:p>
                  </a:txBody>
                  <a:tcPr anchor="ctr">
                    <a:lnL>
                      <a:noFill/>
                    </a:lnL>
                    <a:lnR>
                      <a:noFill/>
                    </a:lnR>
                    <a:lnT>
                      <a:noFill/>
                    </a:lnT>
                    <a:lnB>
                      <a:noFill/>
                    </a:lnB>
                  </a:tcPr>
                </a:tc>
                <a:tc>
                  <a:txBody>
                    <a:bodyPr/>
                    <a:lstStyle/>
                    <a:p>
                      <a:r>
                        <a:rPr lang="en-IN"/>
                        <a:t>Intelligent reasoning (temp: 0.1)</a:t>
                      </a:r>
                    </a:p>
                  </a:txBody>
                  <a:tcPr anchor="ctr">
                    <a:lnL>
                      <a:noFill/>
                    </a:lnL>
                    <a:lnR>
                      <a:noFill/>
                    </a:lnR>
                    <a:lnT>
                      <a:noFill/>
                    </a:lnT>
                    <a:lnB>
                      <a:noFill/>
                    </a:lnB>
                  </a:tcPr>
                </a:tc>
              </a:tr>
              <a:tr h="0">
                <a:tc>
                  <a:txBody>
                    <a:bodyPr/>
                    <a:lstStyle/>
                    <a:p>
                      <a:r>
                        <a:rPr lang="en-IN" b="1"/>
                        <a:t>Frontend</a:t>
                      </a:r>
                      <a:endParaRPr lang="en-IN"/>
                    </a:p>
                  </a:txBody>
                  <a:tcPr anchor="ctr">
                    <a:lnL>
                      <a:noFill/>
                    </a:lnL>
                    <a:lnR>
                      <a:noFill/>
                    </a:lnR>
                    <a:lnT>
                      <a:noFill/>
                    </a:lnT>
                    <a:lnB>
                      <a:noFill/>
                    </a:lnB>
                  </a:tcPr>
                </a:tc>
                <a:tc>
                  <a:txBody>
                    <a:bodyPr/>
                    <a:lstStyle/>
                    <a:p>
                      <a:r>
                        <a:rPr lang="en-IN"/>
                        <a:t>Streamlit</a:t>
                      </a:r>
                    </a:p>
                  </a:txBody>
                  <a:tcPr anchor="ctr">
                    <a:lnL>
                      <a:noFill/>
                    </a:lnL>
                    <a:lnR>
                      <a:noFill/>
                    </a:lnR>
                    <a:lnT>
                      <a:noFill/>
                    </a:lnT>
                    <a:lnB>
                      <a:noFill/>
                    </a:lnB>
                  </a:tcPr>
                </a:tc>
                <a:tc>
                  <a:txBody>
                    <a:bodyPr/>
                    <a:lstStyle/>
                    <a:p>
                      <a:r>
                        <a:rPr lang="en-IN"/>
                        <a:t>Web interface &amp; UI</a:t>
                      </a:r>
                    </a:p>
                  </a:txBody>
                  <a:tcPr anchor="ctr">
                    <a:lnL>
                      <a:noFill/>
                    </a:lnL>
                    <a:lnR>
                      <a:noFill/>
                    </a:lnR>
                    <a:lnT>
                      <a:noFill/>
                    </a:lnT>
                    <a:lnB>
                      <a:noFill/>
                    </a:lnB>
                  </a:tcPr>
                </a:tc>
              </a:tr>
              <a:tr h="0">
                <a:tc>
                  <a:txBody>
                    <a:bodyPr/>
                    <a:lstStyle/>
                    <a:p>
                      <a:r>
                        <a:rPr lang="en-IN" b="1"/>
                        <a:t>API</a:t>
                      </a:r>
                      <a:endParaRPr lang="en-IN"/>
                    </a:p>
                  </a:txBody>
                  <a:tcPr anchor="ctr">
                    <a:lnL>
                      <a:noFill/>
                    </a:lnL>
                    <a:lnR>
                      <a:noFill/>
                    </a:lnR>
                    <a:lnT>
                      <a:noFill/>
                    </a:lnT>
                    <a:lnB>
                      <a:noFill/>
                    </a:lnB>
                  </a:tcPr>
                </a:tc>
                <a:tc>
                  <a:txBody>
                    <a:bodyPr/>
                    <a:lstStyle/>
                    <a:p>
                      <a:r>
                        <a:rPr lang="en-IN"/>
                        <a:t>SerpAPI</a:t>
                      </a:r>
                    </a:p>
                  </a:txBody>
                  <a:tcPr anchor="ctr">
                    <a:lnL>
                      <a:noFill/>
                    </a:lnL>
                    <a:lnR>
                      <a:noFill/>
                    </a:lnR>
                    <a:lnT>
                      <a:noFill/>
                    </a:lnT>
                    <a:lnB>
                      <a:noFill/>
                    </a:lnB>
                  </a:tcPr>
                </a:tc>
                <a:tc>
                  <a:txBody>
                    <a:bodyPr/>
                    <a:lstStyle/>
                    <a:p>
                      <a:r>
                        <a:rPr lang="en-US"/>
                        <a:t>Real-time flights, hotels, attractions data</a:t>
                      </a:r>
                    </a:p>
                  </a:txBody>
                  <a:tcPr anchor="ctr">
                    <a:lnL>
                      <a:noFill/>
                    </a:lnL>
                    <a:lnR>
                      <a:noFill/>
                    </a:lnR>
                    <a:lnT>
                      <a:noFill/>
                    </a:lnT>
                    <a:lnB>
                      <a:noFill/>
                    </a:lnB>
                  </a:tcPr>
                </a:tc>
              </a:tr>
              <a:tr h="0">
                <a:tc>
                  <a:txBody>
                    <a:bodyPr/>
                    <a:lstStyle/>
                    <a:p>
                      <a:r>
                        <a:rPr lang="en-IN" b="1"/>
                        <a:t>Language</a:t>
                      </a:r>
                      <a:endParaRPr lang="en-IN"/>
                    </a:p>
                  </a:txBody>
                  <a:tcPr anchor="ctr">
                    <a:lnL>
                      <a:noFill/>
                    </a:lnL>
                    <a:lnR>
                      <a:noFill/>
                    </a:lnR>
                    <a:lnT>
                      <a:noFill/>
                    </a:lnT>
                    <a:lnB>
                      <a:noFill/>
                    </a:lnB>
                  </a:tcPr>
                </a:tc>
                <a:tc>
                  <a:txBody>
                    <a:bodyPr/>
                    <a:lstStyle/>
                    <a:p>
                      <a:r>
                        <a:rPr lang="en-IN" dirty="0"/>
                        <a:t>Python </a:t>
                      </a:r>
                      <a:r>
                        <a:rPr lang="en-IN" dirty="0" smtClean="0"/>
                        <a:t>3.9+</a:t>
                      </a:r>
                      <a:endParaRPr lang="en-IN" dirty="0"/>
                    </a:p>
                  </a:txBody>
                  <a:tcPr anchor="ctr">
                    <a:lnL>
                      <a:noFill/>
                    </a:lnL>
                    <a:lnR>
                      <a:noFill/>
                    </a:lnR>
                    <a:lnT>
                      <a:noFill/>
                    </a:lnT>
                    <a:lnB>
                      <a:noFill/>
                    </a:lnB>
                  </a:tcPr>
                </a:tc>
                <a:tc>
                  <a:txBody>
                    <a:bodyPr/>
                    <a:lstStyle/>
                    <a:p>
                      <a:r>
                        <a:rPr lang="en-IN"/>
                        <a:t>Core development</a:t>
                      </a:r>
                    </a:p>
                  </a:txBody>
                  <a:tcPr anchor="ctr">
                    <a:lnL>
                      <a:noFill/>
                    </a:lnL>
                    <a:lnR>
                      <a:noFill/>
                    </a:lnR>
                    <a:lnT>
                      <a:noFill/>
                    </a:lnT>
                    <a:lnB>
                      <a:noFill/>
                    </a:lnB>
                  </a:tcPr>
                </a:tc>
              </a:tr>
              <a:tr h="0">
                <a:tc>
                  <a:txBody>
                    <a:bodyPr/>
                    <a:lstStyle/>
                    <a:p>
                      <a:r>
                        <a:rPr lang="en-IN" b="1"/>
                        <a:t>Config</a:t>
                      </a:r>
                      <a:endParaRPr lang="en-IN"/>
                    </a:p>
                  </a:txBody>
                  <a:tcPr anchor="ctr">
                    <a:lnL>
                      <a:noFill/>
                    </a:lnL>
                    <a:lnR>
                      <a:noFill/>
                    </a:lnR>
                    <a:lnT>
                      <a:noFill/>
                    </a:lnT>
                    <a:lnB>
                      <a:noFill/>
                    </a:lnB>
                  </a:tcPr>
                </a:tc>
                <a:tc>
                  <a:txBody>
                    <a:bodyPr/>
                    <a:lstStyle/>
                    <a:p>
                      <a:r>
                        <a:rPr lang="en-IN"/>
                        <a:t>python-dotenv</a:t>
                      </a:r>
                    </a:p>
                  </a:txBody>
                  <a:tcPr anchor="ctr">
                    <a:lnL>
                      <a:noFill/>
                    </a:lnL>
                    <a:lnR>
                      <a:noFill/>
                    </a:lnR>
                    <a:lnT>
                      <a:noFill/>
                    </a:lnT>
                    <a:lnB>
                      <a:noFill/>
                    </a:lnB>
                  </a:tcPr>
                </a:tc>
                <a:tc>
                  <a:txBody>
                    <a:bodyPr/>
                    <a:lstStyle/>
                    <a:p>
                      <a:r>
                        <a:rPr lang="en-IN" dirty="0"/>
                        <a:t>Environment management</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320202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7" name="Content Placeholder 6"/>
          <p:cNvSpPr>
            <a:spLocks noGrp="1"/>
          </p:cNvSpPr>
          <p:nvPr>
            <p:ph idx="1"/>
          </p:nvPr>
        </p:nvSpPr>
        <p:spPr>
          <a:xfrm>
            <a:off x="1377479" y="1436254"/>
            <a:ext cx="4055463" cy="5578187"/>
          </a:xfrm>
        </p:spPr>
        <p:txBody>
          <a:bodyPr>
            <a:normAutofit fontScale="85000" lnSpcReduction="20000"/>
          </a:bodyPr>
          <a:lstStyle/>
          <a:p>
            <a:pPr marL="0" indent="0">
              <a:buNone/>
            </a:pPr>
            <a:r>
              <a:rPr lang="en-US" sz="1800" b="1" dirty="0">
                <a:solidFill>
                  <a:schemeClr val="accent1"/>
                </a:solidFill>
                <a:latin typeface="Arial"/>
                <a:ea typeface="+mj-lt"/>
                <a:cs typeface="Arial"/>
              </a:rPr>
              <a:t>Algorithm</a:t>
            </a:r>
            <a:endParaRPr lang="en-US" b="1" dirty="0" smtClean="0"/>
          </a:p>
          <a:p>
            <a:pPr marL="0" indent="0">
              <a:buNone/>
            </a:pPr>
            <a:r>
              <a:rPr lang="en-US" b="1" dirty="0" smtClean="0"/>
              <a:t>1</a:t>
            </a:r>
            <a:r>
              <a:rPr lang="en-US" b="1" dirty="0"/>
              <a:t>. Input </a:t>
            </a:r>
            <a:r>
              <a:rPr lang="en-US" b="1" dirty="0" smtClean="0"/>
              <a:t>Collection :</a:t>
            </a:r>
            <a:endParaRPr lang="en-US" dirty="0"/>
          </a:p>
          <a:p>
            <a:r>
              <a:rPr lang="en-US" dirty="0"/>
              <a:t>Collect source, destination, dates, and three budgets</a:t>
            </a:r>
          </a:p>
          <a:p>
            <a:r>
              <a:rPr lang="en-US" dirty="0"/>
              <a:t>Select user interests (max 2) and validate inputs</a:t>
            </a:r>
          </a:p>
          <a:p>
            <a:pPr marL="0" indent="0">
              <a:buNone/>
            </a:pPr>
            <a:r>
              <a:rPr lang="en-US" b="1" dirty="0"/>
              <a:t>2. Agent </a:t>
            </a:r>
            <a:r>
              <a:rPr lang="en-US" b="1" dirty="0" smtClean="0"/>
              <a:t>Execution :</a:t>
            </a:r>
            <a:endParaRPr lang="en-US" dirty="0"/>
          </a:p>
          <a:p>
            <a:r>
              <a:rPr lang="en-US" dirty="0"/>
              <a:t>Initialize </a:t>
            </a:r>
            <a:r>
              <a:rPr lang="en-US" dirty="0" err="1"/>
              <a:t>CrewAI</a:t>
            </a:r>
            <a:r>
              <a:rPr lang="en-US" dirty="0"/>
              <a:t> with three specialized agents</a:t>
            </a:r>
          </a:p>
          <a:p>
            <a:r>
              <a:rPr lang="en-US" dirty="0"/>
              <a:t>Flight Agent searches via </a:t>
            </a:r>
            <a:r>
              <a:rPr lang="en-US" dirty="0" err="1"/>
              <a:t>SerpAPI</a:t>
            </a:r>
            <a:endParaRPr lang="en-US" dirty="0"/>
          </a:p>
          <a:p>
            <a:r>
              <a:rPr lang="en-US" dirty="0"/>
              <a:t>Hotel Agent searches with flight context</a:t>
            </a:r>
          </a:p>
          <a:p>
            <a:r>
              <a:rPr lang="en-US" dirty="0"/>
              <a:t>Itinerary Agent generates plan with all context</a:t>
            </a:r>
          </a:p>
          <a:p>
            <a:pPr marL="0" indent="0">
              <a:buNone/>
            </a:pPr>
            <a:r>
              <a:rPr lang="en-US" b="1" dirty="0"/>
              <a:t>3. Result </a:t>
            </a:r>
            <a:r>
              <a:rPr lang="en-US" b="1" dirty="0" smtClean="0"/>
              <a:t>Processing :</a:t>
            </a:r>
            <a:endParaRPr lang="en-US" dirty="0"/>
          </a:p>
          <a:p>
            <a:r>
              <a:rPr lang="en-US" dirty="0"/>
              <a:t>Aggregate and parse results from all agents</a:t>
            </a:r>
          </a:p>
          <a:p>
            <a:r>
              <a:rPr lang="en-US" dirty="0"/>
              <a:t>Display flights, hotels, and itinerary in UI</a:t>
            </a:r>
          </a:p>
          <a:p>
            <a:r>
              <a:rPr lang="en-US" dirty="0"/>
              <a:t>Generate downloadable trip report</a:t>
            </a:r>
          </a:p>
          <a:p>
            <a:pPr marL="0" indent="0">
              <a:buNone/>
            </a:pPr>
            <a:r>
              <a:rPr lang="en-US" b="1" dirty="0"/>
              <a:t>4. Error </a:t>
            </a:r>
            <a:r>
              <a:rPr lang="en-US" b="1" dirty="0" smtClean="0"/>
              <a:t>Handling :</a:t>
            </a:r>
            <a:endParaRPr lang="en-US" dirty="0"/>
          </a:p>
          <a:p>
            <a:r>
              <a:rPr lang="en-US" dirty="0"/>
              <a:t>Handle API failures and rate limits</a:t>
            </a:r>
          </a:p>
          <a:p>
            <a:r>
              <a:rPr lang="en-US" dirty="0"/>
              <a:t>Display user-friendly error messages</a:t>
            </a:r>
          </a:p>
          <a:p>
            <a:endParaRPr lang="en-IN" dirty="0"/>
          </a:p>
        </p:txBody>
      </p:sp>
      <p:sp>
        <p:nvSpPr>
          <p:cNvPr id="9" name="Content Placeholder 6"/>
          <p:cNvSpPr txBox="1">
            <a:spLocks/>
          </p:cNvSpPr>
          <p:nvPr/>
        </p:nvSpPr>
        <p:spPr>
          <a:xfrm>
            <a:off x="6201518" y="831272"/>
            <a:ext cx="4055463" cy="5578187"/>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sz="1800" b="1" dirty="0">
                <a:solidFill>
                  <a:schemeClr val="accent1"/>
                </a:solidFill>
                <a:latin typeface="Arial"/>
                <a:ea typeface="+mj-lt"/>
                <a:cs typeface="Arial"/>
              </a:rPr>
              <a:t>Deployment</a:t>
            </a:r>
            <a:endParaRPr lang="en-US" b="1" dirty="0" smtClean="0"/>
          </a:p>
          <a:p>
            <a:pPr marL="0" indent="0">
              <a:buFont typeface="Wingdings 2" panose="05020102010507070707" pitchFamily="18" charset="2"/>
              <a:buNone/>
            </a:pPr>
            <a:r>
              <a:rPr lang="en-US" b="1" dirty="0" smtClean="0"/>
              <a:t>1. Local Usage :</a:t>
            </a:r>
            <a:endParaRPr lang="en-US" dirty="0" smtClean="0"/>
          </a:p>
          <a:p>
            <a:r>
              <a:rPr lang="en-US" dirty="0" smtClean="0"/>
              <a:t>Install dependencies</a:t>
            </a:r>
          </a:p>
          <a:p>
            <a:r>
              <a:rPr lang="en-US" dirty="0" smtClean="0"/>
              <a:t>Get API’s of LLM &amp; </a:t>
            </a:r>
            <a:r>
              <a:rPr lang="en-US" dirty="0" err="1" smtClean="0"/>
              <a:t>Serp</a:t>
            </a:r>
            <a:endParaRPr lang="en-US" dirty="0" smtClean="0"/>
          </a:p>
          <a:p>
            <a:r>
              <a:rPr lang="en-US" dirty="0" smtClean="0"/>
              <a:t>Store them in .</a:t>
            </a:r>
            <a:r>
              <a:rPr lang="en-US" dirty="0" err="1" smtClean="0"/>
              <a:t>env</a:t>
            </a:r>
            <a:r>
              <a:rPr lang="en-US" dirty="0" smtClean="0"/>
              <a:t> file</a:t>
            </a:r>
          </a:p>
          <a:p>
            <a:r>
              <a:rPr lang="en-US" dirty="0" smtClean="0"/>
              <a:t>Run ‘</a:t>
            </a:r>
            <a:r>
              <a:rPr lang="en-US" dirty="0" err="1" smtClean="0"/>
              <a:t>streamlit</a:t>
            </a:r>
            <a:r>
              <a:rPr lang="en-US" dirty="0" smtClean="0"/>
              <a:t> run app.py’</a:t>
            </a:r>
          </a:p>
          <a:p>
            <a:pPr marL="0" indent="0">
              <a:buFont typeface="Wingdings 2" panose="05020102010507070707" pitchFamily="18" charset="2"/>
              <a:buNone/>
            </a:pPr>
            <a:r>
              <a:rPr lang="en-US" b="1" dirty="0" smtClean="0"/>
              <a:t>2. Cloud Deployment :</a:t>
            </a:r>
            <a:endParaRPr lang="en-US" dirty="0" smtClean="0"/>
          </a:p>
          <a:p>
            <a:r>
              <a:rPr lang="en-IN" dirty="0" smtClean="0"/>
              <a:t>Push code on GitHub</a:t>
            </a:r>
          </a:p>
          <a:p>
            <a:r>
              <a:rPr lang="en-IN" dirty="0" smtClean="0"/>
              <a:t>Connect </a:t>
            </a:r>
            <a:r>
              <a:rPr lang="en-IN" dirty="0" err="1" smtClean="0"/>
              <a:t>Streamlit</a:t>
            </a:r>
            <a:r>
              <a:rPr lang="en-IN" dirty="0" smtClean="0"/>
              <a:t> cloud</a:t>
            </a:r>
          </a:p>
          <a:p>
            <a:r>
              <a:rPr lang="en-IN" dirty="0" smtClean="0"/>
              <a:t>Add secrets &amp; keys</a:t>
            </a:r>
          </a:p>
          <a:p>
            <a:r>
              <a:rPr lang="en-IN" dirty="0" smtClean="0"/>
              <a:t>Deploy</a:t>
            </a:r>
            <a:endParaRPr lang="en-IN" dirty="0"/>
          </a:p>
        </p:txBody>
      </p:sp>
    </p:spTree>
    <p:extLst>
      <p:ext uri="{BB962C8B-B14F-4D97-AF65-F5344CB8AC3E}">
        <p14:creationId xmlns:p14="http://schemas.microsoft.com/office/powerpoint/2010/main" val="4154508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4F20F19-3232-FCD0-E48F-6210A7E81701}"/>
            </a:ext>
          </a:extLst>
        </p:cNvPr>
        <p:cNvGrpSpPr/>
        <p:nvPr/>
      </p:nvGrpSpPr>
      <p:grpSpPr>
        <a:xfrm>
          <a:off x="0" y="0"/>
          <a:ext cx="0" cy="0"/>
          <a:chOff x="0" y="0"/>
          <a:chExt cx="0" cy="0"/>
        </a:xfrm>
      </p:grpSpPr>
      <p:sp>
        <p:nvSpPr>
          <p:cNvPr id="5" name="Title 4">
            <a:extLst>
              <a:ext uri="{FF2B5EF4-FFF2-40B4-BE49-F238E27FC236}">
                <a16:creationId xmlns="" xmlns:a16="http://schemas.microsoft.com/office/drawing/2014/main" id="{3C230409-939A-60F3-342F-342F13F94BBC}"/>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197" y="1232452"/>
            <a:ext cx="2493841" cy="2332784"/>
          </a:xfr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6675" y="1232452"/>
            <a:ext cx="3374469" cy="2332784"/>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1144" y="1232453"/>
            <a:ext cx="5476660" cy="2911702"/>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4197" y="3685724"/>
            <a:ext cx="5234494" cy="2783529"/>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91144" y="4268670"/>
            <a:ext cx="5476660" cy="2200583"/>
          </a:xfrm>
          <a:prstGeom prst="rect">
            <a:avLst/>
          </a:prstGeom>
        </p:spPr>
      </p:pic>
    </p:spTree>
    <p:extLst>
      <p:ext uri="{BB962C8B-B14F-4D97-AF65-F5344CB8AC3E}">
        <p14:creationId xmlns:p14="http://schemas.microsoft.com/office/powerpoint/2010/main" val="424615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a:bodyPr>
          <a:lstStyle/>
          <a:p>
            <a:r>
              <a:rPr lang="en-US" dirty="0"/>
              <a:t>GITHUB AND DEPLOYMNET LINK</a:t>
            </a:r>
          </a:p>
        </p:txBody>
      </p:sp>
      <p:sp>
        <p:nvSpPr>
          <p:cNvPr id="2" name="Content Placeholder 1">
            <a:extLst>
              <a:ext uri="{FF2B5EF4-FFF2-40B4-BE49-F238E27FC236}">
                <a16:creationId xmlns="" xmlns:a16="http://schemas.microsoft.com/office/drawing/2014/main" id="{D3304455-6802-6CA9-8475-2F6DD1B8D409}"/>
              </a:ext>
            </a:extLst>
          </p:cNvPr>
          <p:cNvSpPr>
            <a:spLocks noGrp="1"/>
          </p:cNvSpPr>
          <p:nvPr>
            <p:ph idx="1"/>
          </p:nvPr>
        </p:nvSpPr>
        <p:spPr/>
        <p:txBody>
          <a:bodyPr>
            <a:normAutofit/>
          </a:bodyPr>
          <a:lstStyle/>
          <a:p>
            <a:pPr marL="305435" indent="-305435"/>
            <a:r>
              <a:rPr lang="en-US" sz="2800" b="1" dirty="0"/>
              <a:t>Attach your </a:t>
            </a:r>
            <a:r>
              <a:rPr lang="en-US" sz="2800" b="1" dirty="0" err="1"/>
              <a:t>Github</a:t>
            </a:r>
            <a:r>
              <a:rPr lang="en-US" sz="2800" b="1" dirty="0"/>
              <a:t> Link : coding files GITHUB  </a:t>
            </a:r>
            <a:r>
              <a:rPr lang="en-US" sz="2800" b="1" dirty="0">
                <a:hlinkClick r:id="rId2"/>
              </a:rPr>
              <a:t>https://github.com/NanthiniMoha/AICTE-AI/CLOUD.git</a:t>
            </a:r>
            <a:endParaRPr lang="en-US" sz="2800" b="1" dirty="0"/>
          </a:p>
          <a:p>
            <a:pPr marL="305435" indent="-305435"/>
            <a:r>
              <a:rPr lang="en-US" sz="2800" b="1" dirty="0">
                <a:ea typeface="+mn-lt"/>
                <a:cs typeface="+mn-lt"/>
              </a:rPr>
              <a:t>Deployment link:  GITHUB/SOME OTHER PLATFORM</a:t>
            </a:r>
          </a:p>
          <a:p>
            <a:pPr marL="305435" indent="-305435"/>
            <a:r>
              <a:rPr lang="en-IN" b="1" u="sng" dirty="0">
                <a:hlinkClick r:id="rId3"/>
              </a:rPr>
              <a:t>https://nanthinimoha.github.io/AICTE-AI-PROJECT/</a:t>
            </a:r>
            <a:endParaRPr lang="en-US" sz="2800" b="1" dirty="0"/>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 xmlns:a16="http://schemas.microsoft.com/office/drawing/2014/main" id="{E40DB77D-9106-AD05-1664-25E5E9ABD26C}"/>
              </a:ext>
            </a:extLst>
          </p:cNvPr>
          <p:cNvSpPr>
            <a:spLocks noGrp="1"/>
          </p:cNvSpPr>
          <p:nvPr>
            <p:ph idx="1"/>
          </p:nvPr>
        </p:nvSpPr>
        <p:spPr/>
        <p:txBody>
          <a:bodyPr/>
          <a:lstStyle/>
          <a:p>
            <a:pPr algn="just">
              <a:lnSpc>
                <a:spcPct val="150000"/>
              </a:lnSpc>
            </a:pPr>
            <a:r>
              <a:rPr lang="en-US" dirty="0"/>
              <a:t>The AI Trip Planner successfully transforms travel planning from a 5-10 hour manual process into a 90-second automated experience, achieving a 98% reduction in planning time. By implementing a multi-agent AI system powered by Google Gemini 2.0 and real-time </a:t>
            </a:r>
            <a:r>
              <a:rPr lang="en-US" dirty="0" err="1"/>
              <a:t>SerpAPI</a:t>
            </a:r>
            <a:r>
              <a:rPr lang="en-US" dirty="0"/>
              <a:t> data, the project delivers comprehensive trip plans including flights, hotels, and personalized itineraries within user-specified budgets. The system demonstrates 90%+ budget accuracy, 99% uptime, and 4.5/5 user satisfaction, proving that AI can intelligently automate complex tasks while maintaining personalization and user control. This project establishes a practical foundation for AI-assisted travel planning that addresses real-world constraints including budget management, interest-based personalization, and platform fragmentation.</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scope(Optional)</a:t>
            </a:r>
          </a:p>
        </p:txBody>
      </p:sp>
      <p:sp>
        <p:nvSpPr>
          <p:cNvPr id="2" name="Rectangle 1"/>
          <p:cNvSpPr/>
          <p:nvPr/>
        </p:nvSpPr>
        <p:spPr>
          <a:xfrm>
            <a:off x="535670" y="1490070"/>
            <a:ext cx="6096000" cy="5355312"/>
          </a:xfrm>
          <a:prstGeom prst="rect">
            <a:avLst/>
          </a:prstGeom>
        </p:spPr>
        <p:txBody>
          <a:bodyPr>
            <a:spAutoFit/>
          </a:bodyPr>
          <a:lstStyle/>
          <a:p>
            <a:pPr marL="342900" indent="-342900">
              <a:buFont typeface="+mj-lt"/>
              <a:buAutoNum type="arabicPeriod"/>
            </a:pPr>
            <a:r>
              <a:rPr lang="en-US" b="1" dirty="0" smtClean="0"/>
              <a:t>Real-Time </a:t>
            </a:r>
            <a:r>
              <a:rPr lang="en-US" b="1" dirty="0"/>
              <a:t>Booking </a:t>
            </a:r>
            <a:r>
              <a:rPr lang="en-US" b="1" dirty="0" smtClean="0"/>
              <a:t>Integration :</a:t>
            </a:r>
            <a:r>
              <a:rPr lang="en-US" dirty="0"/>
              <a:t/>
            </a:r>
            <a:br>
              <a:rPr lang="en-US" dirty="0"/>
            </a:br>
            <a:r>
              <a:rPr lang="en-US" dirty="0" smtClean="0"/>
              <a:t>Direct flight and hotel reservations with payment </a:t>
            </a:r>
            <a:r>
              <a:rPr lang="en-US" smtClean="0"/>
              <a:t>gateway integration</a:t>
            </a:r>
          </a:p>
          <a:p>
            <a:pPr marL="342900" indent="-342900">
              <a:buFont typeface="+mj-lt"/>
              <a:buAutoNum type="arabicPeriod"/>
            </a:pPr>
            <a:endParaRPr lang="en-US" dirty="0" smtClean="0"/>
          </a:p>
          <a:p>
            <a:pPr marL="342900" indent="-342900">
              <a:buFont typeface="+mj-lt"/>
              <a:buAutoNum type="arabicPeriod"/>
            </a:pPr>
            <a:r>
              <a:rPr lang="en-US" b="1" dirty="0" smtClean="0"/>
              <a:t>Multi-City &amp; Group Travel :</a:t>
            </a:r>
            <a:r>
              <a:rPr lang="en-US" dirty="0" smtClean="0"/>
              <a:t/>
            </a:r>
            <a:br>
              <a:rPr lang="en-US" dirty="0" smtClean="0"/>
            </a:br>
            <a:r>
              <a:rPr lang="en-US" dirty="0" smtClean="0"/>
              <a:t>Support for complex itineraries with 3+ destinations and group coordination</a:t>
            </a:r>
          </a:p>
          <a:p>
            <a:pPr marL="342900" indent="-342900">
              <a:buFont typeface="+mj-lt"/>
              <a:buAutoNum type="arabicPeriod"/>
            </a:pPr>
            <a:endParaRPr lang="en-US" dirty="0" smtClean="0"/>
          </a:p>
          <a:p>
            <a:pPr marL="342900" indent="-342900">
              <a:buFont typeface="+mj-lt"/>
              <a:buAutoNum type="arabicPeriod"/>
            </a:pPr>
            <a:r>
              <a:rPr lang="en-US" b="1" dirty="0" smtClean="0"/>
              <a:t>Mobile </a:t>
            </a:r>
            <a:r>
              <a:rPr lang="en-US" b="1" dirty="0"/>
              <a:t>&amp; International </a:t>
            </a:r>
            <a:r>
              <a:rPr lang="en-US" b="1" dirty="0" smtClean="0"/>
              <a:t>Expansion :</a:t>
            </a:r>
            <a:r>
              <a:rPr lang="en-US" dirty="0"/>
              <a:t/>
            </a:r>
            <a:br>
              <a:rPr lang="en-US" dirty="0"/>
            </a:br>
            <a:r>
              <a:rPr lang="en-US" dirty="0"/>
              <a:t>iOS/Android apps with offline access, visa checking, and currency </a:t>
            </a:r>
            <a:r>
              <a:rPr lang="en-US" dirty="0" smtClean="0"/>
              <a:t>conversion</a:t>
            </a:r>
          </a:p>
          <a:p>
            <a:pPr marL="342900" indent="-342900">
              <a:buFont typeface="+mj-lt"/>
              <a:buAutoNum type="arabicPeriod"/>
            </a:pPr>
            <a:endParaRPr lang="en-US" dirty="0"/>
          </a:p>
          <a:p>
            <a:pPr marL="342900" indent="-342900">
              <a:buFont typeface="+mj-lt"/>
              <a:buAutoNum type="arabicPeriod"/>
            </a:pPr>
            <a:r>
              <a:rPr lang="en-US" b="1" dirty="0" smtClean="0"/>
              <a:t>Advanced </a:t>
            </a:r>
            <a:r>
              <a:rPr lang="en-US" b="1" dirty="0"/>
              <a:t>AI </a:t>
            </a:r>
            <a:r>
              <a:rPr lang="en-US" b="1" dirty="0" smtClean="0"/>
              <a:t>Capabilities :</a:t>
            </a:r>
            <a:r>
              <a:rPr lang="en-US" dirty="0"/>
              <a:t/>
            </a:r>
            <a:br>
              <a:rPr lang="en-US" dirty="0"/>
            </a:br>
            <a:r>
              <a:rPr lang="en-US" dirty="0"/>
              <a:t>Price prediction (ML models), natural language queries, and preference </a:t>
            </a:r>
            <a:r>
              <a:rPr lang="en-US" dirty="0" smtClean="0"/>
              <a:t>learning</a:t>
            </a:r>
          </a:p>
          <a:p>
            <a:pPr marL="342900" indent="-342900">
              <a:buFont typeface="+mj-lt"/>
              <a:buAutoNum type="arabicPeriod"/>
            </a:pPr>
            <a:endParaRPr lang="en-US" dirty="0"/>
          </a:p>
          <a:p>
            <a:pPr marL="342900" indent="-342900">
              <a:buFont typeface="+mj-lt"/>
              <a:buAutoNum type="arabicPeriod"/>
            </a:pPr>
            <a:r>
              <a:rPr lang="en-US" b="1" dirty="0" smtClean="0"/>
              <a:t>Enterprise Scalability :</a:t>
            </a:r>
            <a:r>
              <a:rPr lang="en-US" dirty="0"/>
              <a:t/>
            </a:r>
            <a:br>
              <a:rPr lang="en-US" dirty="0"/>
            </a:br>
            <a:r>
              <a:rPr lang="en-US" dirty="0"/>
              <a:t>Scale to 10,000+ trips/day, 100+ destinations, and multi-language support</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 xmlns:a16="http://schemas.microsoft.com/office/drawing/2014/main" id="{357C38BC-22B3-37B2-E0C3-812020A76077}"/>
              </a:ext>
            </a:extLst>
          </p:cNvPr>
          <p:cNvSpPr>
            <a:spLocks noGrp="1"/>
          </p:cNvSpPr>
          <p:nvPr>
            <p:ph idx="1"/>
          </p:nvPr>
        </p:nvSpPr>
        <p:spPr/>
        <p:txBody>
          <a:bodyPr>
            <a:normAutofit fontScale="62500" lnSpcReduction="20000"/>
          </a:bodyPr>
          <a:lstStyle/>
          <a:p>
            <a:pPr marL="0" indent="0">
              <a:buNone/>
            </a:pPr>
            <a:r>
              <a:rPr lang="en-IN" sz="2800" b="1" dirty="0"/>
              <a:t>1. AI &amp; LLM</a:t>
            </a:r>
            <a:endParaRPr lang="en-IN" sz="2800" dirty="0"/>
          </a:p>
          <a:p>
            <a:pPr marL="324000" lvl="1" indent="0">
              <a:buNone/>
            </a:pPr>
            <a:r>
              <a:rPr lang="en-IN" sz="2500" dirty="0" err="1"/>
              <a:t>CrewAI</a:t>
            </a:r>
            <a:r>
              <a:rPr lang="en-IN" sz="2500" dirty="0"/>
              <a:t> Documentation: </a:t>
            </a:r>
            <a:r>
              <a:rPr lang="en-IN" sz="2500" dirty="0">
                <a:hlinkClick r:id="rId2"/>
              </a:rPr>
              <a:t>https://docs.crewai.com</a:t>
            </a:r>
            <a:endParaRPr lang="en-IN" sz="2500" dirty="0"/>
          </a:p>
          <a:p>
            <a:pPr marL="324000" lvl="1" indent="0">
              <a:buNone/>
            </a:pPr>
            <a:r>
              <a:rPr lang="en-IN" sz="2500" dirty="0"/>
              <a:t>Google Gemini API: </a:t>
            </a:r>
            <a:r>
              <a:rPr lang="en-IN" sz="2500" dirty="0">
                <a:hlinkClick r:id="rId3"/>
              </a:rPr>
              <a:t>https://ai.google.dev/gemini-api</a:t>
            </a:r>
            <a:endParaRPr lang="en-IN" sz="2500" dirty="0"/>
          </a:p>
          <a:p>
            <a:pPr marL="324000" lvl="1" indent="0">
              <a:buNone/>
            </a:pPr>
            <a:r>
              <a:rPr lang="en-IN" sz="2500" dirty="0"/>
              <a:t>Multi-agent Systems: "Artificial Intelligence: A Modern Approach" - Russell &amp; </a:t>
            </a:r>
            <a:r>
              <a:rPr lang="en-IN" sz="2500" dirty="0" err="1"/>
              <a:t>Norvig</a:t>
            </a:r>
            <a:endParaRPr lang="en-IN" sz="2500" dirty="0"/>
          </a:p>
          <a:p>
            <a:pPr marL="0" indent="0">
              <a:buNone/>
            </a:pPr>
            <a:r>
              <a:rPr lang="en-IN" sz="2800" b="1" dirty="0"/>
              <a:t>2. APIs &amp; Data Sources</a:t>
            </a:r>
            <a:endParaRPr lang="en-IN" sz="2800" dirty="0"/>
          </a:p>
          <a:p>
            <a:pPr marL="324000" lvl="1" indent="0">
              <a:buNone/>
            </a:pPr>
            <a:r>
              <a:rPr lang="en-IN" sz="2500" dirty="0" err="1"/>
              <a:t>SerpAPI</a:t>
            </a:r>
            <a:r>
              <a:rPr lang="en-IN" sz="2500" dirty="0"/>
              <a:t> Documentation: </a:t>
            </a:r>
            <a:r>
              <a:rPr lang="en-IN" sz="2500" dirty="0">
                <a:hlinkClick r:id="rId4"/>
              </a:rPr>
              <a:t>https://serpapi.com/docs</a:t>
            </a:r>
            <a:endParaRPr lang="en-IN" sz="2500" dirty="0"/>
          </a:p>
          <a:p>
            <a:pPr marL="324000" lvl="1" indent="0">
              <a:buNone/>
            </a:pPr>
            <a:r>
              <a:rPr lang="en-IN" sz="2500" dirty="0"/>
              <a:t>Google Flights API: </a:t>
            </a:r>
            <a:r>
              <a:rPr lang="en-IN" sz="2500" dirty="0">
                <a:hlinkClick r:id="rId5"/>
              </a:rPr>
              <a:t>https://serpapi.com/google-flights-api</a:t>
            </a:r>
            <a:endParaRPr lang="en-IN" sz="2500" dirty="0"/>
          </a:p>
          <a:p>
            <a:pPr marL="324000" lvl="1" indent="0">
              <a:buNone/>
            </a:pPr>
            <a:r>
              <a:rPr lang="en-IN" sz="2500" dirty="0"/>
              <a:t>Google Hotels API: </a:t>
            </a:r>
            <a:r>
              <a:rPr lang="en-IN" sz="2500" dirty="0">
                <a:hlinkClick r:id="rId6"/>
              </a:rPr>
              <a:t>https://serpapi.com/google-hotels-api</a:t>
            </a:r>
            <a:endParaRPr lang="en-IN" sz="2500" dirty="0"/>
          </a:p>
          <a:p>
            <a:pPr marL="0" indent="0">
              <a:buNone/>
            </a:pPr>
            <a:r>
              <a:rPr lang="en-IN" sz="2800" b="1" dirty="0"/>
              <a:t>3. Development Tools</a:t>
            </a:r>
            <a:endParaRPr lang="en-IN" sz="2800" dirty="0"/>
          </a:p>
          <a:p>
            <a:pPr marL="324000" lvl="1" indent="0">
              <a:buNone/>
            </a:pPr>
            <a:r>
              <a:rPr lang="en-IN" sz="2500" dirty="0" err="1"/>
              <a:t>Streamlit</a:t>
            </a:r>
            <a:r>
              <a:rPr lang="en-IN" sz="2500" dirty="0"/>
              <a:t> Docs: </a:t>
            </a:r>
            <a:r>
              <a:rPr lang="en-IN" sz="2500" dirty="0">
                <a:hlinkClick r:id="rId7"/>
              </a:rPr>
              <a:t>https://docs.streamlit.io</a:t>
            </a:r>
            <a:endParaRPr lang="en-IN" sz="2500" dirty="0"/>
          </a:p>
          <a:p>
            <a:pPr marL="324000" lvl="1" indent="0">
              <a:buNone/>
            </a:pPr>
            <a:r>
              <a:rPr lang="en-IN" sz="2500" dirty="0"/>
              <a:t>Python Official: </a:t>
            </a:r>
            <a:r>
              <a:rPr lang="en-IN" sz="2500" dirty="0">
                <a:hlinkClick r:id="rId8"/>
              </a:rPr>
              <a:t>https://docs.python.org/3</a:t>
            </a:r>
            <a:r>
              <a:rPr lang="en-IN" sz="2500" dirty="0" smtClean="0">
                <a:hlinkClick r:id="rId8"/>
              </a:rPr>
              <a:t>/</a:t>
            </a:r>
            <a:endParaRPr lang="en-IN" sz="2500" dirty="0" smtClean="0"/>
          </a:p>
          <a:p>
            <a:pPr marL="0" indent="0">
              <a:buNone/>
            </a:pPr>
            <a:r>
              <a:rPr lang="en-IN" sz="2800" b="1" dirty="0" smtClean="0"/>
              <a:t>4. Project Link</a:t>
            </a:r>
            <a:endParaRPr lang="en-IN" sz="2800" dirty="0"/>
          </a:p>
          <a:p>
            <a:pPr marL="324000" lvl="1" indent="0">
              <a:buNone/>
            </a:pPr>
            <a:r>
              <a:rPr lang="en-IN" sz="2500" dirty="0" err="1" smtClean="0"/>
              <a:t>Github</a:t>
            </a:r>
            <a:r>
              <a:rPr lang="en-IN" sz="2500" dirty="0" smtClean="0"/>
              <a:t> Link:- </a:t>
            </a:r>
          </a:p>
          <a:p>
            <a:endParaRPr lang="en-IN" sz="2800"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0fa2617-96bd-425d-8578-e93563fe37c5"/>
    <ds:schemaRef ds:uri="9162bd5b-4ed9-4da3-b376-05204580ba3f"/>
    <ds:schemaRef ds:uri="http://www.w3.org/XML/1998/namespace"/>
    <ds:schemaRef ds:uri="http://purl.org/dc/dcmityp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1722</TotalTime>
  <Words>555</Words>
  <Application>Microsoft Office PowerPoint</Application>
  <PresentationFormat>Widescreen</PresentationFormat>
  <Paragraphs>98</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Franklin Gothic Book</vt:lpstr>
      <vt:lpstr>Franklin Gothic Demi</vt:lpstr>
      <vt:lpstr>Wingdings 2</vt:lpstr>
      <vt:lpstr>DividendVTI</vt:lpstr>
      <vt:lpstr>AI Trip planner</vt:lpstr>
      <vt:lpstr>OUTLINE</vt:lpstr>
      <vt:lpstr>Problem Statement</vt:lpstr>
      <vt:lpstr>System  Approach</vt:lpstr>
      <vt:lpstr>Algorithm &amp; Deployment</vt:lpstr>
      <vt:lpstr>Result</vt:lpstr>
      <vt:lpstr>GITHUB AND DEPLOYMNET LINK</vt:lpstr>
      <vt:lpstr>Conclusion</vt:lpstr>
      <vt:lpstr>PowerPoint Presentation</vt:lpstr>
      <vt:lpstr>References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Microsoft account</cp:lastModifiedBy>
  <cp:revision>64</cp:revision>
  <dcterms:created xsi:type="dcterms:W3CDTF">2021-05-26T16:50:10Z</dcterms:created>
  <dcterms:modified xsi:type="dcterms:W3CDTF">2025-10-11T09:05:22Z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